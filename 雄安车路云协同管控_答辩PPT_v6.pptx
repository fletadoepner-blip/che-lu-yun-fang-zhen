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固定配时</c:v>
                </c:pt>
              </c:strCache>
            </c:strRef>
          </c:tx>
          <c:spPr>
            <a:solidFill>
              <a:srgbClr val="9AA7B4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</c:f>
              <c:strCache>
                <c:ptCount val="3"/>
                <c:pt idx="0">
                  <c:v>早高峰</c:v>
                </c:pt>
                <c:pt idx="1">
                  <c:v>平峰</c:v>
                </c:pt>
                <c:pt idx="2">
                  <c:v>晚高峰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3"/>
                <c:pt idx="0">
                  <c:v>1204.245</c:v>
                </c:pt>
                <c:pt idx="1">
                  <c:v>846.804</c:v>
                </c:pt>
                <c:pt idx="2">
                  <c:v>980.884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FSCC 完整组合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</c:f>
              <c:strCache>
                <c:ptCount val="3"/>
                <c:pt idx="0">
                  <c:v>早高峰</c:v>
                </c:pt>
                <c:pt idx="1">
                  <c:v>平峰</c:v>
                </c:pt>
                <c:pt idx="2">
                  <c:v>晚高峰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3"/>
                <c:pt idx="0">
                  <c:v>1149.833</c:v>
                </c:pt>
                <c:pt idx="1">
                  <c:v>777.75</c:v>
                </c:pt>
                <c:pt idx="2">
                  <c:v>912.174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68027336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6becbb6-e0e4-41b7-8a9d-62c29bf2fe29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017520" cy="32918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3246120" y="0"/>
            <a:ext cx="411480" cy="457200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1097280"/>
            <a:ext cx="457200" cy="45720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1920240"/>
            <a:ext cx="256032" cy="256032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5943600"/>
            <a:ext cx="182880" cy="18288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5120640"/>
            <a:ext cx="329184" cy="32918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7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面向雄安新区"城市大脑"的</a:t>
            </a:r>
            <a:endParaRPr sz="26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车路云一体化协同管控算法与仿真平台</a:t>
            </a:r>
            <a:endParaRPr sz="4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7440" y="4224528"/>
            <a:ext cx="2011680" cy="18288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99831" y="4224528"/>
            <a:ext cx="2011680" cy="18288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059936"/>
            <a:ext cx="3593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经典交通管控算法的场景适配与优化</a:t>
            </a:r>
            <a:endParaRPr sz="15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5207" y="4800600"/>
            <a:ext cx="1737360" cy="658368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207" y="4800600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FSCC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融序协同控制机制</a:t>
            </a:r>
            <a:endParaRPr sz="10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2567" y="4800600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＝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69767" y="4800600"/>
            <a:ext cx="1737360" cy="658368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9767" y="4800600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TRANSYT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走廊协调</a:t>
            </a:r>
            <a:endParaRPr sz="10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07127" y="4800600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64327" y="4800600"/>
            <a:ext cx="1737360" cy="658368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4327" y="4800600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SACF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迁移先验</a:t>
            </a:r>
            <a:endParaRPr sz="10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01687" y="4800600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58887" y="4800600"/>
            <a:ext cx="1737360" cy="658368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8887" y="4800600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SPCN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相位竞争</a:t>
            </a:r>
            <a:endParaRPr sz="10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96247" y="4800600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753447" y="4800600"/>
            <a:ext cx="1463040" cy="658368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447" y="4800600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安全门控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答辩演示    ｜    2026 年 9 月</a:t>
            </a:r>
            <a:endParaRPr sz="12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结论先行：三时段通行效率稳定提升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TextBox 14"/>
          <p:cNvSpPr txBox="1"/>
          <p:nvPr/>
        </p:nvSpPr>
        <p:spPr>
          <a:xfrm>
            <a:off x="612647" y="157276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早高峰</a:t>
            </a:r>
            <a:endParaRPr sz="1400" b="1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TextBox 15"/>
          <p:cNvSpPr txBox="1"/>
          <p:nvPr/>
        </p:nvSpPr>
        <p:spPr>
          <a:xfrm>
            <a:off x="585216" y="2121408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旅行时间 ↓ 4.52%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平均队列 ↓ 8.27%</a:t>
            </a:r>
            <a:endParaRPr sz="12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1204.2s → 1149.8s</a:t>
            </a:r>
            <a:endParaRPr sz="10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Rectangle 16"/>
          <p:cNvSpPr/>
          <p:nvPr/>
        </p:nvSpPr>
        <p:spPr>
          <a:xfrm>
            <a:off x="3286353" y="1600200"/>
            <a:ext cx="10972" cy="173736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"/>
          <p:cNvSpPr txBox="1"/>
          <p:nvPr/>
        </p:nvSpPr>
        <p:spPr>
          <a:xfrm>
            <a:off x="3410711" y="157276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平峰</a:t>
            </a:r>
            <a:endParaRPr sz="1400" b="1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TextBox 20"/>
          <p:cNvSpPr txBox="1"/>
          <p:nvPr/>
        </p:nvSpPr>
        <p:spPr>
          <a:xfrm>
            <a:off x="3383280" y="2121408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旅行时间 ↓ 8.15%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平均队列 ↓ 14.09%</a:t>
            </a:r>
            <a:endParaRPr sz="12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846.8s → 777.8s</a:t>
            </a:r>
            <a:endParaRPr sz="10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Rectangle 21"/>
          <p:cNvSpPr/>
          <p:nvPr/>
        </p:nvSpPr>
        <p:spPr>
          <a:xfrm>
            <a:off x="6084417" y="1600200"/>
            <a:ext cx="10972" cy="173736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4"/>
          <p:cNvSpPr txBox="1"/>
          <p:nvPr/>
        </p:nvSpPr>
        <p:spPr>
          <a:xfrm>
            <a:off x="6208776" y="1572768"/>
            <a:ext cx="2606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晚高峰</a:t>
            </a:r>
            <a:endParaRPr sz="1400" b="1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TextBox 25"/>
          <p:cNvSpPr txBox="1"/>
          <p:nvPr/>
        </p:nvSpPr>
        <p:spPr>
          <a:xfrm>
            <a:off x="6181344" y="2121408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旅行时间 ↓ 7.00%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平均队列 ↓ 12.33%</a:t>
            </a:r>
            <a:endParaRPr sz="12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980.9s → 912.2s</a:t>
            </a:r>
            <a:endParaRPr sz="10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Rectangle 26"/>
          <p:cNvSpPr/>
          <p:nvPr/>
        </p:nvSpPr>
        <p:spPr>
          <a:xfrm>
            <a:off x="8882481" y="1600200"/>
            <a:ext cx="10972" cy="173736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9"/>
          <p:cNvSpPr txBox="1"/>
          <p:nvPr/>
        </p:nvSpPr>
        <p:spPr>
          <a:xfrm>
            <a:off x="9006840" y="1572768"/>
            <a:ext cx="2606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压力扰动</a:t>
            </a:r>
            <a:endParaRPr sz="1400" b="1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TextBox 30"/>
          <p:cNvSpPr txBox="1"/>
          <p:nvPr/>
        </p:nvSpPr>
        <p:spPr>
          <a:xfrm>
            <a:off x="8979407" y="2121408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降幅保持 7.51~8.07%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需求 +10%~+30%</a:t>
            </a:r>
            <a:endParaRPr sz="12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平峰鲁棒性验证</a:t>
            </a:r>
            <a:endParaRPr sz="10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Rounded Rectangle 31"/>
          <p:cNvSpPr/>
          <p:nvPr/>
        </p:nvSpPr>
        <p:spPr>
          <a:xfrm>
            <a:off x="566928" y="3611880"/>
            <a:ext cx="5468112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Parallelogram 32"/>
          <p:cNvSpPr/>
          <p:nvPr/>
        </p:nvSpPr>
        <p:spPr>
          <a:xfrm>
            <a:off x="1344168" y="3474720"/>
            <a:ext cx="219456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33"/>
          <p:cNvSpPr txBox="1"/>
          <p:nvPr/>
        </p:nvSpPr>
        <p:spPr>
          <a:xfrm>
            <a:off x="1344168" y="35112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真实场景与证据链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TextBox 36"/>
          <p:cNvSpPr txBox="1"/>
          <p:nvPr/>
        </p:nvSpPr>
        <p:spPr>
          <a:xfrm>
            <a:off x="667512" y="4023360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雄安 20 个受控路口、294 条道路，4×5 布局 CityFlow 场景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TextBox 39"/>
          <p:cNvSpPr txBox="1"/>
          <p:nvPr/>
        </p:nvSpPr>
        <p:spPr>
          <a:xfrm>
            <a:off x="667512" y="4590288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早/平/晚三时段交通流，20/20 份来源表格审计一致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TextBox 42"/>
          <p:cNvSpPr txBox="1"/>
          <p:nvPr/>
        </p:nvSpPr>
        <p:spPr>
          <a:xfrm>
            <a:off x="667512" y="5157216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7,500 仿真步、10 秒决策间隔、固定随机种子，结果可复算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Rounded Rectangle 43"/>
          <p:cNvSpPr/>
          <p:nvPr/>
        </p:nvSpPr>
        <p:spPr>
          <a:xfrm>
            <a:off x="6153912" y="3611880"/>
            <a:ext cx="5468112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rallelogram 44"/>
          <p:cNvSpPr/>
          <p:nvPr/>
        </p:nvSpPr>
        <p:spPr>
          <a:xfrm>
            <a:off x="6931152" y="3474720"/>
            <a:ext cx="219456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45"/>
          <p:cNvSpPr txBox="1"/>
          <p:nvPr/>
        </p:nvSpPr>
        <p:spPr>
          <a:xfrm>
            <a:off x="6931152" y="35112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方法与口径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TextBox 48"/>
          <p:cNvSpPr txBox="1"/>
          <p:nvPr/>
        </p:nvSpPr>
        <p:spPr>
          <a:xfrm>
            <a:off x="6254496" y="4023360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FSCC 分层融合：走廊协调＋迁移先验＋相位竞争＋安全门控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TextBox 51"/>
          <p:cNvSpPr txBox="1"/>
          <p:nvPr/>
        </p:nvSpPr>
        <p:spPr>
          <a:xfrm>
            <a:off x="6254496" y="4590288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所有收益均以固定配时为基准，统一场景、流量与指标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TextBox 54"/>
          <p:cNvSpPr txBox="1"/>
          <p:nvPr/>
        </p:nvSpPr>
        <p:spPr>
          <a:xfrm>
            <a:off x="6254496" y="5157216"/>
            <a:ext cx="5184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吞吐率 99.97%~99.98% 与基线一致，不夸大饱和场景差异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Rounded Rectangle 55"/>
          <p:cNvSpPr/>
          <p:nvPr/>
        </p:nvSpPr>
        <p:spPr>
          <a:xfrm>
            <a:off x="566928" y="598932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58"/>
          <p:cNvSpPr txBox="1"/>
          <p:nvPr/>
        </p:nvSpPr>
        <p:spPr>
          <a:xfrm>
            <a:off x="822960" y="598932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在可解释、可回退、可复算的前提下，让雄安"窄路密网"三时段通行效率稳定提升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真实场景：雄安新区 20 个现实路口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Rectangle 12"/>
          <p:cNvSpPr/>
          <p:nvPr/>
        </p:nvSpPr>
        <p:spPr>
          <a:xfrm>
            <a:off x="1097172" y="1417320"/>
            <a:ext cx="561463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4" name="Picture 13" descr="xiongan_20junctions_ma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892" y="1463040"/>
            <a:ext cx="5523190" cy="4297680"/>
          </a:xfrm>
          <a:prstGeom prst="rect">
            <a:avLst/>
          </a:prstGeom>
        </p:spPr>
      </p:pic>
      <p:sp>
        <p:nvSpPr>
          <p:cNvPr id="235" name="TextBox 16"/>
          <p:cNvSpPr txBox="1"/>
          <p:nvPr/>
        </p:nvSpPr>
        <p:spPr>
          <a:xfrm>
            <a:off x="6897370" y="1618615"/>
            <a:ext cx="4715510" cy="9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场景解析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场景取自雄安真实路网，20 个受控路口与数据包一一对应，来源可审计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Rectangle 17"/>
          <p:cNvSpPr/>
          <p:nvPr/>
        </p:nvSpPr>
        <p:spPr>
          <a:xfrm>
            <a:off x="8229600" y="2569464"/>
            <a:ext cx="338328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0"/>
          <p:cNvSpPr txBox="1"/>
          <p:nvPr/>
        </p:nvSpPr>
        <p:spPr>
          <a:xfrm>
            <a:off x="6905625" y="2642870"/>
            <a:ext cx="4707255" cy="9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路网规模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20 个路口、294 条道路，覆盖早高峰、平峰、晚高峰三类需求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8229600" y="3593592"/>
            <a:ext cx="338328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4"/>
          <p:cNvSpPr txBox="1"/>
          <p:nvPr/>
        </p:nvSpPr>
        <p:spPr>
          <a:xfrm>
            <a:off x="6865620" y="3666490"/>
            <a:ext cx="4747260" cy="65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计划车辆数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早高峰 77,749 辆、平峰 54,864 辆、晚高峰 87,051 辆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Rectangle 25"/>
          <p:cNvSpPr/>
          <p:nvPr/>
        </p:nvSpPr>
        <p:spPr>
          <a:xfrm>
            <a:off x="8229600" y="4617720"/>
            <a:ext cx="338328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8"/>
          <p:cNvSpPr txBox="1"/>
          <p:nvPr/>
        </p:nvSpPr>
        <p:spPr>
          <a:xfrm>
            <a:off x="6889115" y="4690745"/>
            <a:ext cx="4723765" cy="894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数据与校验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manifest＋excel_audit＋validate_scenario.py 三重校验，20/20 份来源表格一致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Rounded Rectangle 29"/>
          <p:cNvSpPr/>
          <p:nvPr/>
        </p:nvSpPr>
        <p:spPr>
          <a:xfrm>
            <a:off x="566928" y="5925312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32"/>
          <p:cNvSpPr txBox="1"/>
          <p:nvPr/>
        </p:nvSpPr>
        <p:spPr>
          <a:xfrm>
            <a:off x="822960" y="5925312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真实数据构建的高保真场景，是后续一切对比实验的公平基础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痛点：为什么"窄路密网"难管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Oval 12"/>
          <p:cNvSpPr/>
          <p:nvPr/>
        </p:nvSpPr>
        <p:spPr>
          <a:xfrm>
            <a:off x="4681728" y="2103120"/>
            <a:ext cx="2834640" cy="283464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13"/>
          <p:cNvSpPr/>
          <p:nvPr/>
        </p:nvSpPr>
        <p:spPr>
          <a:xfrm>
            <a:off x="5020056" y="2441448"/>
            <a:ext cx="2157984" cy="21579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14"/>
          <p:cNvSpPr txBox="1"/>
          <p:nvPr/>
        </p:nvSpPr>
        <p:spPr>
          <a:xfrm>
            <a:off x="5093208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窄路密网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9EC"/>
                </a:solidFill>
                <a:latin typeface="微软雅黑" panose="020B0503020204020204" charset="-122"/>
                <a:ea typeface="微软雅黑" panose="020B0503020204020204" charset="-122"/>
              </a:rPr>
              <a:t>管控之难</a:t>
            </a:r>
            <a:endParaRPr sz="1300" b="0">
              <a:solidFill>
                <a:srgbClr val="C9D9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TextBox 17"/>
          <p:cNvSpPr txBox="1"/>
          <p:nvPr/>
        </p:nvSpPr>
        <p:spPr>
          <a:xfrm>
            <a:off x="813815" y="1481328"/>
            <a:ext cx="3922776" cy="40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路口间距短 · 车流耦合强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TextBox 18"/>
          <p:cNvSpPr txBox="1"/>
          <p:nvPr/>
        </p:nvSpPr>
        <p:spPr>
          <a:xfrm>
            <a:off x="865505" y="1920240"/>
            <a:ext cx="3634105" cy="9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单个路口的局部最优会把排队压力转移到下游，造成相邻路口溢出——"放行一个、堵死一片"。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TextBox 21"/>
          <p:cNvSpPr txBox="1"/>
          <p:nvPr/>
        </p:nvSpPr>
        <p:spPr>
          <a:xfrm>
            <a:off x="8037575" y="1481328"/>
            <a:ext cx="3922776" cy="40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需求时变显著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TextBox 22"/>
          <p:cNvSpPr txBox="1"/>
          <p:nvPr/>
        </p:nvSpPr>
        <p:spPr>
          <a:xfrm>
            <a:off x="8063865" y="1920240"/>
            <a:ext cx="3505200" cy="9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早晚高峰潮汐特征明显，固定配时缺乏快速响应能力，短时放行收益转化为更长排队。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TextBox 25"/>
          <p:cNvSpPr txBox="1"/>
          <p:nvPr/>
        </p:nvSpPr>
        <p:spPr>
          <a:xfrm>
            <a:off x="813815" y="3977639"/>
            <a:ext cx="3922776" cy="40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学习类方法难落地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TextBox 26"/>
          <p:cNvSpPr txBox="1"/>
          <p:nvPr/>
        </p:nvSpPr>
        <p:spPr>
          <a:xfrm>
            <a:off x="884555" y="4416425"/>
            <a:ext cx="3604895" cy="9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黑盒决策难解释、难复算；异常状态下缺少安全回退，难以满足工程系统的可审计要求。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TextBox 29"/>
          <p:cNvSpPr txBox="1"/>
          <p:nvPr/>
        </p:nvSpPr>
        <p:spPr>
          <a:xfrm>
            <a:off x="8037575" y="3977639"/>
            <a:ext cx="3922776" cy="40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赛题硬性要求（赛道B）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TextBox 30"/>
          <p:cNvSpPr txBox="1"/>
          <p:nvPr/>
        </p:nvSpPr>
        <p:spPr>
          <a:xfrm>
            <a:off x="8084185" y="4416425"/>
            <a:ext cx="3387725" cy="9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经典算法场景适配＋参数调优＋性能评估，所有结果必须来自统一场景、可复现、可复算。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Rounded Rectangle 31"/>
          <p:cNvSpPr/>
          <p:nvPr/>
        </p:nvSpPr>
        <p:spPr>
          <a:xfrm>
            <a:off x="566928" y="5925312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34"/>
          <p:cNvSpPr txBox="1"/>
          <p:nvPr/>
        </p:nvSpPr>
        <p:spPr>
          <a:xfrm>
            <a:off x="822960" y="5925312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需要的是：既保留规则控制的可解释与安全兜底，又能协同多路口时序的自适应机制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总体架构：云—边—端混合决策与数据闭环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Rounded Rectangle 12"/>
          <p:cNvSpPr/>
          <p:nvPr/>
        </p:nvSpPr>
        <p:spPr>
          <a:xfrm>
            <a:off x="685800" y="169164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AF3E2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13"/>
          <p:cNvSpPr txBox="1"/>
          <p:nvPr/>
        </p:nvSpPr>
        <p:spPr>
          <a:xfrm>
            <a:off x="813816" y="180136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端：车与路侧设备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车辆位置、速度、信号状态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执行相位 / 速度建议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时间戳与设备身份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Rounded Rectangle 14"/>
          <p:cNvSpPr/>
          <p:nvPr/>
        </p:nvSpPr>
        <p:spPr>
          <a:xfrm>
            <a:off x="3291840" y="169164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FDF3D9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15"/>
          <p:cNvSpPr txBox="1"/>
          <p:nvPr/>
        </p:nvSpPr>
        <p:spPr>
          <a:xfrm>
            <a:off x="3419856" y="180136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边：路口控制单元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状态聚合与 12 维编码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C-MP / SPCN 局部决策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最小绿灯、清空相位、安全校验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ounded Rectangle 16"/>
          <p:cNvSpPr/>
          <p:nvPr/>
        </p:nvSpPr>
        <p:spPr>
          <a:xfrm>
            <a:off x="5897880" y="169164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3EDF7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17"/>
          <p:cNvSpPr txBox="1"/>
          <p:nvPr/>
        </p:nvSpPr>
        <p:spPr>
          <a:xfrm>
            <a:off x="6025896" y="1801368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云：城市大脑协同层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模型版本与策略聚合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跨路口拥堵识别、偏移建议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训练、评估与审计追溯</a:t>
            </a:r>
            <a:endParaRPr sz="9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Right Arrow 18"/>
          <p:cNvSpPr/>
          <p:nvPr/>
        </p:nvSpPr>
        <p:spPr>
          <a:xfrm>
            <a:off x="2816352" y="2011680"/>
            <a:ext cx="438912" cy="182880"/>
          </a:xfrm>
          <a:prstGeom prst="right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19"/>
          <p:cNvSpPr txBox="1"/>
          <p:nvPr/>
        </p:nvSpPr>
        <p:spPr>
          <a:xfrm>
            <a:off x="2697480" y="178308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状态上报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Left Arrow 20"/>
          <p:cNvSpPr/>
          <p:nvPr/>
        </p:nvSpPr>
        <p:spPr>
          <a:xfrm>
            <a:off x="2816352" y="3108960"/>
            <a:ext cx="438912" cy="182880"/>
          </a:xfrm>
          <a:prstGeom prst="left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1"/>
          <p:cNvSpPr txBox="1"/>
          <p:nvPr/>
        </p:nvSpPr>
        <p:spPr>
          <a:xfrm>
            <a:off x="2697480" y="331012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安全动作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Right Arrow 22"/>
          <p:cNvSpPr/>
          <p:nvPr/>
        </p:nvSpPr>
        <p:spPr>
          <a:xfrm>
            <a:off x="5422392" y="2011680"/>
            <a:ext cx="438912" cy="182880"/>
          </a:xfrm>
          <a:prstGeom prst="right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3"/>
          <p:cNvSpPr txBox="1"/>
          <p:nvPr/>
        </p:nvSpPr>
        <p:spPr>
          <a:xfrm>
            <a:off x="5303520" y="178308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区域摘要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Left Arrow 24"/>
          <p:cNvSpPr/>
          <p:nvPr/>
        </p:nvSpPr>
        <p:spPr>
          <a:xfrm>
            <a:off x="5422392" y="3108960"/>
            <a:ext cx="438912" cy="182880"/>
          </a:xfrm>
          <a:prstGeom prst="left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5"/>
          <p:cNvSpPr txBox="1"/>
          <p:nvPr/>
        </p:nvSpPr>
        <p:spPr>
          <a:xfrm>
            <a:off x="5303520" y="331012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协调建议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Down Arrow 26"/>
          <p:cNvSpPr/>
          <p:nvPr/>
        </p:nvSpPr>
        <p:spPr>
          <a:xfrm>
            <a:off x="1600200" y="3703320"/>
            <a:ext cx="237744" cy="457200"/>
          </a:xfrm>
          <a:prstGeom prst="down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7"/>
          <p:cNvSpPr txBox="1"/>
          <p:nvPr/>
        </p:nvSpPr>
        <p:spPr>
          <a:xfrm>
            <a:off x="1874519" y="3822191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离线回放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Down Arrow 28"/>
          <p:cNvSpPr/>
          <p:nvPr/>
        </p:nvSpPr>
        <p:spPr>
          <a:xfrm>
            <a:off x="4206240" y="3703320"/>
            <a:ext cx="237744" cy="457200"/>
          </a:xfrm>
          <a:prstGeom prst="down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"/>
          <p:cNvSpPr txBox="1"/>
          <p:nvPr/>
        </p:nvSpPr>
        <p:spPr>
          <a:xfrm>
            <a:off x="4480560" y="382219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轨迹与指标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Down Arrow 30"/>
          <p:cNvSpPr/>
          <p:nvPr/>
        </p:nvSpPr>
        <p:spPr>
          <a:xfrm>
            <a:off x="6812280" y="3703320"/>
            <a:ext cx="237744" cy="457200"/>
          </a:xfrm>
          <a:prstGeom prst="downArrow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31"/>
          <p:cNvSpPr txBox="1"/>
          <p:nvPr/>
        </p:nvSpPr>
        <p:spPr>
          <a:xfrm>
            <a:off x="7086600" y="3822191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版本下发</a:t>
            </a:r>
            <a:endParaRPr sz="8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Rounded Rectangle 32"/>
          <p:cNvSpPr/>
          <p:nvPr/>
        </p:nvSpPr>
        <p:spPr>
          <a:xfrm>
            <a:off x="685800" y="4297680"/>
            <a:ext cx="7296912" cy="117043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3"/>
          <p:cNvSpPr txBox="1"/>
          <p:nvPr/>
        </p:nvSpPr>
        <p:spPr>
          <a:xfrm>
            <a:off x="914400" y="4407408"/>
            <a:ext cx="6858000" cy="98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统一数据与评估平面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Observation / Action / Result Schema　｜　trace JSON　｜　metrics CSV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模型与场景版本锁定　｜　随机种子　｜　原始轨迹与复算脚本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TextBox 36"/>
          <p:cNvSpPr txBox="1"/>
          <p:nvPr/>
        </p:nvSpPr>
        <p:spPr>
          <a:xfrm>
            <a:off x="8202420" y="1691767"/>
            <a:ext cx="3300984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三层职责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Rectangle 37"/>
          <p:cNvSpPr/>
          <p:nvPr/>
        </p:nvSpPr>
        <p:spPr>
          <a:xfrm>
            <a:off x="8787384" y="2130552"/>
            <a:ext cx="2724911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40"/>
          <p:cNvSpPr txBox="1"/>
          <p:nvPr/>
        </p:nvSpPr>
        <p:spPr>
          <a:xfrm>
            <a:off x="8209915" y="2194560"/>
            <a:ext cx="3585845" cy="68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端侧执行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车辆/路侧感知上报，相位执行与速度建议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Rectangle 41"/>
          <p:cNvSpPr/>
          <p:nvPr/>
        </p:nvSpPr>
        <p:spPr>
          <a:xfrm>
            <a:off x="8823959" y="2939923"/>
            <a:ext cx="2816351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44"/>
          <p:cNvSpPr txBox="1"/>
          <p:nvPr/>
        </p:nvSpPr>
        <p:spPr>
          <a:xfrm>
            <a:off x="8202295" y="2950845"/>
            <a:ext cx="3502660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边侧决策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观测压缩、局部相位决策、硬安全约束（低时延）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Rectangle 45"/>
          <p:cNvSpPr/>
          <p:nvPr/>
        </p:nvSpPr>
        <p:spPr>
          <a:xfrm>
            <a:off x="8823959" y="3840480"/>
            <a:ext cx="2816351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48"/>
          <p:cNvSpPr txBox="1"/>
          <p:nvPr/>
        </p:nvSpPr>
        <p:spPr>
          <a:xfrm>
            <a:off x="8202167" y="3913631"/>
            <a:ext cx="3438142" cy="68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云侧协调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模型版本、走廊偏移、拥堵告警（低频）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Rectangle 49"/>
          <p:cNvSpPr/>
          <p:nvPr/>
        </p:nvSpPr>
        <p:spPr>
          <a:xfrm>
            <a:off x="8823959" y="4645152"/>
            <a:ext cx="2816351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52"/>
          <p:cNvSpPr txBox="1"/>
          <p:nvPr/>
        </p:nvSpPr>
        <p:spPr>
          <a:xfrm>
            <a:off x="8202167" y="4718303"/>
            <a:ext cx="3438142" cy="87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3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平面分离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数据/控制平面分离，统一 Schema，可替换 SUMO/CityFlow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Rounded Rectangle 53"/>
          <p:cNvSpPr/>
          <p:nvPr/>
        </p:nvSpPr>
        <p:spPr>
          <a:xfrm>
            <a:off x="566928" y="5925312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56"/>
          <p:cNvSpPr txBox="1"/>
          <p:nvPr/>
        </p:nvSpPr>
        <p:spPr>
          <a:xfrm>
            <a:off x="822960" y="5925312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云不越权、边不失控、端可执行——学习模块永远不能越过安全边界直接控制设备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核心算法：FSCC 闭环决策流程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Rectangle 12"/>
          <p:cNvSpPr/>
          <p:nvPr/>
        </p:nvSpPr>
        <p:spPr>
          <a:xfrm>
            <a:off x="999635" y="1371600"/>
            <a:ext cx="2883625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16"/>
          <p:cNvSpPr txBox="1"/>
          <p:nvPr/>
        </p:nvSpPr>
        <p:spPr>
          <a:xfrm>
            <a:off x="4462272" y="1481328"/>
            <a:ext cx="71506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先协调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TRANSYT 风格层先输出基于周期、绿信比、相位偏移的名义动作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SACF 提供迁移动作价值先验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TextBox 19"/>
          <p:cNvSpPr txBox="1"/>
          <p:nvPr/>
        </p:nvSpPr>
        <p:spPr>
          <a:xfrm>
            <a:off x="4462272" y="2542032"/>
            <a:ext cx="71506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后修正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SPCN 依据相位竞争给出有界残差修正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满足最小绿灯、拥堵门控、压力增益、动作范围四重条件，修正才可覆盖名义动作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TextBox 22"/>
          <p:cNvSpPr txBox="1"/>
          <p:nvPr/>
        </p:nvSpPr>
        <p:spPr>
          <a:xfrm>
            <a:off x="4462272" y="3602736"/>
            <a:ext cx="71506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再约束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异常/缺失/高不确定时回退最大压力或固定配时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每一步可解释、可回滚，端到端全程可追溯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Rectangle 23"/>
          <p:cNvSpPr/>
          <p:nvPr/>
        </p:nvSpPr>
        <p:spPr>
          <a:xfrm>
            <a:off x="4709160" y="4663440"/>
            <a:ext cx="6931152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ounded Rectangle 24"/>
          <p:cNvSpPr/>
          <p:nvPr/>
        </p:nvSpPr>
        <p:spPr>
          <a:xfrm>
            <a:off x="4709160" y="4590288"/>
            <a:ext cx="3337560" cy="1170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27"/>
          <p:cNvSpPr txBox="1"/>
          <p:nvPr/>
        </p:nvSpPr>
        <p:spPr>
          <a:xfrm>
            <a:off x="4809744" y="4681728"/>
            <a:ext cx="3108958" cy="104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计算复杂度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单次决策 O(NAd)，SPCN 竞争矩阵 O(NA²)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20 路口 × 8 相位 CPU 实时完成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Rounded Rectangle 28"/>
          <p:cNvSpPr/>
          <p:nvPr/>
        </p:nvSpPr>
        <p:spPr>
          <a:xfrm>
            <a:off x="8302752" y="4590288"/>
            <a:ext cx="3337560" cy="1170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1"/>
          <p:cNvSpPr txBox="1"/>
          <p:nvPr/>
        </p:nvSpPr>
        <p:spPr>
          <a:xfrm>
            <a:off x="8403336" y="4681728"/>
            <a:ext cx="3108959" cy="880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闭环反馈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动作轨迹＋队列＋指标写入结果层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作为下一控制周期的反馈输入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Rounded Rectangle 32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5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每个控制周期形成完整闭环：局部低时延响应 × 跨路口时序协调 × 异常安全回退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7" name="Picture 36" descr="fscc_flow_n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3025"/>
            <a:ext cx="3226145" cy="4379422"/>
          </a:xfrm>
          <a:prstGeom prst="rect">
            <a:avLst/>
          </a:prstGeom>
          <a:ln w="12700">
            <a:solidFill>
              <a:srgbClr val="D8DC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FSCC 分层职责：每个模块都可单独核验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Oval 12"/>
          <p:cNvSpPr/>
          <p:nvPr/>
        </p:nvSpPr>
        <p:spPr>
          <a:xfrm>
            <a:off x="914400" y="2148840"/>
            <a:ext cx="2926080" cy="292608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13"/>
          <p:cNvSpPr/>
          <p:nvPr/>
        </p:nvSpPr>
        <p:spPr>
          <a:xfrm>
            <a:off x="1234440" y="2468880"/>
            <a:ext cx="2286000" cy="2286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14"/>
          <p:cNvSpPr txBox="1"/>
          <p:nvPr/>
        </p:nvSpPr>
        <p:spPr>
          <a:xfrm>
            <a:off x="1280160" y="2926080"/>
            <a:ext cx="21945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FSCC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分层职责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9D9EC"/>
                </a:solidFill>
                <a:latin typeface="微软雅黑" panose="020B0503020204020204" charset="-122"/>
                <a:ea typeface="微软雅黑" panose="020B0503020204020204" charset="-122"/>
              </a:rPr>
              <a:t>每个模块都可单独核验</a:t>
            </a:r>
            <a:endParaRPr sz="1000" b="0">
              <a:solidFill>
                <a:srgbClr val="C9D9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TextBox 17"/>
          <p:cNvSpPr txBox="1"/>
          <p:nvPr/>
        </p:nvSpPr>
        <p:spPr>
          <a:xfrm>
            <a:off x="4453128" y="1536192"/>
            <a:ext cx="4663439" cy="8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TRANSYT 风格协调层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共同周期、绿信比、相位偏移匹配车辆到达波，形成走廊级名义方案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TextBox 18"/>
          <p:cNvSpPr txBox="1"/>
          <p:nvPr/>
        </p:nvSpPr>
        <p:spPr>
          <a:xfrm>
            <a:off x="9235440" y="1591056"/>
            <a:ext cx="237744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最终配置：周期 9 ｜ 平滑系数 0.35 ｜ 即时需求权重 0.35</a:t>
            </a:r>
            <a:endParaRPr sz="14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Rectangle 19"/>
          <p:cNvSpPr/>
          <p:nvPr/>
        </p:nvSpPr>
        <p:spPr>
          <a:xfrm>
            <a:off x="5138928" y="2542032"/>
            <a:ext cx="649224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22"/>
          <p:cNvSpPr txBox="1"/>
          <p:nvPr/>
        </p:nvSpPr>
        <p:spPr>
          <a:xfrm>
            <a:off x="4453128" y="2651760"/>
            <a:ext cx="4663439" cy="8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SACF · 静态动作校准层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Static Action Calibration Framework：基于预训练校准模块生成可迁移动作建议，继承相似交通结构的决策经验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TextBox 23"/>
          <p:cNvSpPr txBox="1"/>
          <p:nvPr/>
        </p:nvSpPr>
        <p:spPr>
          <a:xfrm>
            <a:off x="9235440" y="2706624"/>
            <a:ext cx="237744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不在线更新，不破坏已验证策略；状态异常时不依赖其输出</a:t>
            </a:r>
            <a:endParaRPr sz="14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Rectangle 24"/>
          <p:cNvSpPr/>
          <p:nvPr/>
        </p:nvSpPr>
        <p:spPr>
          <a:xfrm>
            <a:off x="5138928" y="3657600"/>
            <a:ext cx="649224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27"/>
          <p:cNvSpPr txBox="1"/>
          <p:nvPr/>
        </p:nvSpPr>
        <p:spPr>
          <a:xfrm>
            <a:off x="4453128" y="3767328"/>
            <a:ext cx="4663439" cy="8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SPCN · 结构化相位竞争层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Structured Phase Competition Network：显式建模候选相位竞争关系，只输出有界残差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TextBox 28"/>
          <p:cNvSpPr txBox="1"/>
          <p:nvPr/>
        </p:nvSpPr>
        <p:spPr>
          <a:xfrm>
            <a:off x="9235440" y="3822191"/>
            <a:ext cx="237744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特别适配窄路密网中相邻方向放行相互影响、排队易传导的情形</a:t>
            </a:r>
            <a:endParaRPr sz="14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Rectangle 29"/>
          <p:cNvSpPr/>
          <p:nvPr/>
        </p:nvSpPr>
        <p:spPr>
          <a:xfrm>
            <a:off x="5138928" y="4773168"/>
            <a:ext cx="649224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2"/>
          <p:cNvSpPr txBox="1"/>
          <p:nvPr/>
        </p:nvSpPr>
        <p:spPr>
          <a:xfrm>
            <a:off x="4453128" y="4882896"/>
            <a:ext cx="4663439" cy="8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安全门控与回退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最小绿灯、拥堵门控、压力增益、动作范围四重约束统一裁决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TextBox 33"/>
          <p:cNvSpPr txBox="1"/>
          <p:nvPr/>
        </p:nvSpPr>
        <p:spPr>
          <a:xfrm>
            <a:off x="9235440" y="4937759"/>
            <a:ext cx="237744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异常时回退最大压力/固定配时，满足可解释、可回滚、可审计</a:t>
            </a:r>
            <a:endParaRPr sz="14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Rounded Rectangle 34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7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每项创新都能在配置、动作轨迹、覆盖次数和消融结果中被单独核验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仿真平台：20 路口 CityFlow 实时动态监测</a:t>
            </a:r>
            <a:endParaRPr sz="2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Rectangle 12"/>
          <p:cNvSpPr/>
          <p:nvPr/>
        </p:nvSpPr>
        <p:spPr>
          <a:xfrm>
            <a:off x="5133514" y="1371600"/>
            <a:ext cx="3631851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9" name="Picture 13" descr="report_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9234" y="1417320"/>
            <a:ext cx="3540411" cy="3246120"/>
          </a:xfrm>
          <a:prstGeom prst="rect">
            <a:avLst/>
          </a:prstGeom>
        </p:spPr>
      </p:pic>
      <p:sp>
        <p:nvSpPr>
          <p:cNvPr id="380" name="TextBox 16"/>
          <p:cNvSpPr txBox="1"/>
          <p:nvPr/>
        </p:nvSpPr>
        <p:spPr>
          <a:xfrm>
            <a:off x="594360" y="1536192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动态监测解析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Rectangle 17"/>
          <p:cNvSpPr/>
          <p:nvPr/>
        </p:nvSpPr>
        <p:spPr>
          <a:xfrm>
            <a:off x="1170432" y="1901952"/>
            <a:ext cx="3291840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20"/>
          <p:cNvSpPr txBox="1"/>
          <p:nvPr/>
        </p:nvSpPr>
        <p:spPr>
          <a:xfrm>
            <a:off x="585216" y="2121408"/>
            <a:ext cx="4005072" cy="88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4×5 路网布局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20 个受控路口，节点颜色与编号对应当前信号相位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Rectangle 21"/>
          <p:cNvSpPr/>
          <p:nvPr/>
        </p:nvSpPr>
        <p:spPr>
          <a:xfrm>
            <a:off x="1207008" y="3063239"/>
            <a:ext cx="338328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24"/>
          <p:cNvSpPr txBox="1"/>
          <p:nvPr/>
        </p:nvSpPr>
        <p:spPr>
          <a:xfrm>
            <a:off x="585216" y="3136392"/>
            <a:ext cx="4005072" cy="88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实时队列代理量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节点旁实时显示；底部状态栏记录仿真时间、在网/已注入/已排队车辆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Rectangle 25"/>
          <p:cNvSpPr/>
          <p:nvPr/>
        </p:nvSpPr>
        <p:spPr>
          <a:xfrm>
            <a:off x="1207008" y="4078224"/>
            <a:ext cx="338328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28"/>
          <p:cNvSpPr txBox="1"/>
          <p:nvPr/>
        </p:nvSpPr>
        <p:spPr>
          <a:xfrm>
            <a:off x="566801" y="4106926"/>
            <a:ext cx="4005072" cy="88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进入主循环的证据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监测视图验证算法动作确实进入仿真主循环，而非离线生成一组指标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Rounded Rectangle 29"/>
          <p:cNvSpPr/>
          <p:nvPr/>
        </p:nvSpPr>
        <p:spPr>
          <a:xfrm>
            <a:off x="567055" y="5029835"/>
            <a:ext cx="11055350" cy="776605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0"/>
          <p:cNvSpPr txBox="1"/>
          <p:nvPr/>
        </p:nvSpPr>
        <p:spPr>
          <a:xfrm>
            <a:off x="777240" y="501091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插件三道门槛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Oval 31"/>
          <p:cNvSpPr/>
          <p:nvPr>
            <p:custDataLst>
              <p:tags r:id="rId2"/>
            </p:custDataLst>
          </p:nvPr>
        </p:nvSpPr>
        <p:spPr>
          <a:xfrm>
            <a:off x="2834640" y="5166359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2"/>
          <p:cNvSpPr txBox="1"/>
          <p:nvPr>
            <p:custDataLst>
              <p:tags r:id="rId3"/>
            </p:custDataLst>
          </p:nvPr>
        </p:nvSpPr>
        <p:spPr>
          <a:xfrm>
            <a:off x="2834640" y="516635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TextBox 33"/>
          <p:cNvSpPr txBox="1"/>
          <p:nvPr>
            <p:custDataLst>
              <p:tags r:id="rId4"/>
            </p:custDataLst>
          </p:nvPr>
        </p:nvSpPr>
        <p:spPr>
          <a:xfrm>
            <a:off x="3273552" y="5089843"/>
            <a:ext cx="2514600" cy="5645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注册表登记 → 静态契约检查（维度/动作范围）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Oval 34"/>
          <p:cNvSpPr/>
          <p:nvPr>
            <p:custDataLst>
              <p:tags r:id="rId5"/>
            </p:custDataLst>
          </p:nvPr>
        </p:nvSpPr>
        <p:spPr>
          <a:xfrm>
            <a:off x="5623560" y="5166359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5"/>
          <p:cNvSpPr txBox="1"/>
          <p:nvPr>
            <p:custDataLst>
              <p:tags r:id="rId6"/>
            </p:custDataLst>
          </p:nvPr>
        </p:nvSpPr>
        <p:spPr>
          <a:xfrm>
            <a:off x="5623560" y="516635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TextBox 36"/>
          <p:cNvSpPr txBox="1"/>
          <p:nvPr>
            <p:custDataLst>
              <p:tags r:id="rId7"/>
            </p:custDataLst>
          </p:nvPr>
        </p:nvSpPr>
        <p:spPr>
          <a:xfrm>
            <a:off x="6062472" y="5089843"/>
            <a:ext cx="2514600" cy="5645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50~100 步冒烟仿真 → 7,500 步正式评测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Oval 37"/>
          <p:cNvSpPr/>
          <p:nvPr>
            <p:custDataLst>
              <p:tags r:id="rId8"/>
            </p:custDataLst>
          </p:nvPr>
        </p:nvSpPr>
        <p:spPr>
          <a:xfrm>
            <a:off x="8412480" y="5166359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8"/>
          <p:cNvSpPr txBox="1"/>
          <p:nvPr>
            <p:custDataLst>
              <p:tags r:id="rId9"/>
            </p:custDataLst>
          </p:nvPr>
        </p:nvSpPr>
        <p:spPr>
          <a:xfrm>
            <a:off x="8412480" y="516635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TextBox 39"/>
          <p:cNvSpPr txBox="1"/>
          <p:nvPr>
            <p:custDataLst>
              <p:tags r:id="rId10"/>
            </p:custDataLst>
          </p:nvPr>
        </p:nvSpPr>
        <p:spPr>
          <a:xfrm>
            <a:off x="8851392" y="5089843"/>
            <a:ext cx="2514600" cy="5645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"模型能加载但平台不能运行"的问题前置暴露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Rounded Rectangle 40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43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统一的 SignalAlgorithm 契约（状态 [20,12] → 动作 0..7）让任何算法即插即比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实验·基线对比：三时段旅行时间全面下降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10"/>
          <p:cNvSpPr txBox="1"/>
          <p:nvPr/>
        </p:nvSpPr>
        <p:spPr>
          <a:xfrm>
            <a:off x="594360" y="131673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与固定配时相比，FSCC 完整组合在三个时段的旅行时间均显著下降，平峰改善最大</a:t>
            </a:r>
            <a:endParaRPr sz="12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TextBox 11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TextBox 12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3" name="Chart 13"/>
          <p:cNvGraphicFramePr/>
          <p:nvPr/>
        </p:nvGraphicFramePr>
        <p:xfrm>
          <a:off x="566928" y="1691640"/>
          <a:ext cx="66751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4" name="TextBox 16"/>
          <p:cNvSpPr txBox="1"/>
          <p:nvPr/>
        </p:nvSpPr>
        <p:spPr>
          <a:xfrm>
            <a:off x="7662671" y="1638427"/>
            <a:ext cx="3831337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关键结论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Rectangle 17"/>
          <p:cNvSpPr/>
          <p:nvPr/>
        </p:nvSpPr>
        <p:spPr>
          <a:xfrm>
            <a:off x="8238744" y="2130552"/>
            <a:ext cx="3255264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18"/>
          <p:cNvSpPr txBox="1"/>
          <p:nvPr/>
        </p:nvSpPr>
        <p:spPr>
          <a:xfrm>
            <a:off x="7818120" y="2286000"/>
            <a:ext cx="3703320" cy="24993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54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旅行时间：早高峰 ↓4.52%，平峰 ↓8.15%，晚高峰 ↓7.00%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54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平均队列：↓8.27% ／ ↓14.09% ／ ↓12.33%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54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估计延迟同步下降：1076.3s / 706.3s / 840.5s（vs 基线 1130.7 / 775.4 / 909.2）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54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吞吐率 99.9704%~99.9816% 与基线完全一致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Rounded Rectangle 19"/>
          <p:cNvSpPr/>
          <p:nvPr/>
        </p:nvSpPr>
        <p:spPr>
          <a:xfrm>
            <a:off x="7818120" y="4828540"/>
            <a:ext cx="3803650" cy="8864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22"/>
          <p:cNvSpPr txBox="1"/>
          <p:nvPr/>
        </p:nvSpPr>
        <p:spPr>
          <a:xfrm>
            <a:off x="7978775" y="4924425"/>
            <a:ext cx="3642995" cy="64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平峰改善最大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与平峰仍存在较大协调空间的交通机理一致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实验·消融：三模块互补，缺一不可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12"/>
          <p:cNvSpPr/>
          <p:nvPr/>
        </p:nvSpPr>
        <p:spPr>
          <a:xfrm>
            <a:off x="525373" y="1325879"/>
            <a:ext cx="703254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13" descr="report_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93" y="1371599"/>
            <a:ext cx="6941109" cy="3383280"/>
          </a:xfrm>
          <a:prstGeom prst="rect">
            <a:avLst/>
          </a:prstGeom>
        </p:spPr>
      </p:pic>
      <p:sp>
        <p:nvSpPr>
          <p:cNvPr id="43" name="TextBox 16"/>
          <p:cNvSpPr txBox="1"/>
          <p:nvPr/>
        </p:nvSpPr>
        <p:spPr>
          <a:xfrm>
            <a:off x="7799831" y="1490472"/>
            <a:ext cx="36850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消融设置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17"/>
          <p:cNvSpPr/>
          <p:nvPr/>
        </p:nvSpPr>
        <p:spPr>
          <a:xfrm>
            <a:off x="8375904" y="1856232"/>
            <a:ext cx="3108960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18"/>
          <p:cNvSpPr txBox="1"/>
          <p:nvPr/>
        </p:nvSpPr>
        <p:spPr>
          <a:xfrm>
            <a:off x="7955914" y="201168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在同一 20 路口场景、同一时段输入、7,500 步下分别去除 TRANSYT / SPCN / SACF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完整组合在三时段均取得最低或接近最低旅行时间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吞吐率与基线一致，改善不来自牺牲通行量</a:t>
            </a:r>
            <a:endParaRPr sz="115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19"/>
          <p:cNvSpPr/>
          <p:nvPr/>
        </p:nvSpPr>
        <p:spPr>
          <a:xfrm>
            <a:off x="566928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22"/>
          <p:cNvSpPr txBox="1"/>
          <p:nvPr/>
        </p:nvSpPr>
        <p:spPr>
          <a:xfrm>
            <a:off x="704088" y="4919345"/>
            <a:ext cx="5193792" cy="8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去 TRANSYT（早高峰）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SACF+SPCN 旅行时间反而高于固定配时 +0.60%——高饱和下仅优化单路口会把压力推向邻路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23"/>
          <p:cNvSpPr/>
          <p:nvPr/>
        </p:nvSpPr>
        <p:spPr>
          <a:xfrm>
            <a:off x="6181344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26"/>
          <p:cNvSpPr txBox="1"/>
          <p:nvPr/>
        </p:nvSpPr>
        <p:spPr>
          <a:xfrm>
            <a:off x="6328029" y="4919345"/>
            <a:ext cx="5193792" cy="8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去 SPCN（平峰）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SACF+TRANSYT 与 TRANSYT-only 完全相同——缺少相位竞争结构，先验难以转化为可执行修正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27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30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「局部竞争修正＋走廊协调＋安全迁移先验」是互补组合，而非单一模块全时段占优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实验·改善率：相对固定配时三时段全部为正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587528" y="1325880"/>
            <a:ext cx="6359598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13" descr="report_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48" y="1371600"/>
            <a:ext cx="6268158" cy="4343400"/>
          </a:xfrm>
          <a:prstGeom prst="rect">
            <a:avLst/>
          </a:prstGeom>
        </p:spPr>
      </p:pic>
      <p:sp>
        <p:nvSpPr>
          <p:cNvPr id="66" name="TextBox 16"/>
          <p:cNvSpPr txBox="1"/>
          <p:nvPr/>
        </p:nvSpPr>
        <p:spPr>
          <a:xfrm>
            <a:off x="7306436" y="1411097"/>
            <a:ext cx="4142233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增益稳定性解读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17"/>
          <p:cNvSpPr/>
          <p:nvPr/>
        </p:nvSpPr>
        <p:spPr>
          <a:xfrm>
            <a:off x="7918704" y="1856232"/>
            <a:ext cx="3566160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18"/>
          <p:cNvSpPr txBox="1"/>
          <p:nvPr/>
        </p:nvSpPr>
        <p:spPr>
          <a:xfrm>
            <a:off x="7498079" y="2011680"/>
            <a:ext cx="4023360" cy="3425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完整组合相对固定配时：早高峰 +4.52%、平峰 +8.15%、晚高峰 +7.00%，三时段全部正向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热力图用于观察组件增益是否稳定，而非只看单一最优点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结果支持「规则先验、相位竞争、走廊协调互补」的设计判断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统计边界如实标注：固定随机种子下的可复算点估计，多种子置信区间列为下一步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ounded Rectangle 19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22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组件增益在三时段保持稳定正向，而非个别场景的偶然最优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实验·压力扰动：需求 +30% 仍保持 7.5% 以上降幅</a:t>
            </a:r>
            <a:endParaRPr sz="2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12"/>
          <p:cNvSpPr/>
          <p:nvPr/>
        </p:nvSpPr>
        <p:spPr>
          <a:xfrm>
            <a:off x="521207" y="1329266"/>
            <a:ext cx="6858000" cy="401658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13" descr="report_image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4986"/>
            <a:ext cx="6766560" cy="3925146"/>
          </a:xfrm>
          <a:prstGeom prst="rect">
            <a:avLst/>
          </a:prstGeom>
        </p:spPr>
      </p:pic>
      <p:sp>
        <p:nvSpPr>
          <p:cNvPr id="85" name="TextBox 16"/>
          <p:cNvSpPr txBox="1"/>
          <p:nvPr/>
        </p:nvSpPr>
        <p:spPr>
          <a:xfrm>
            <a:off x="7662671" y="1411097"/>
            <a:ext cx="3831337" cy="4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扰动实验结果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17"/>
          <p:cNvSpPr/>
          <p:nvPr/>
        </p:nvSpPr>
        <p:spPr>
          <a:xfrm>
            <a:off x="8238744" y="1856232"/>
            <a:ext cx="3255264" cy="1645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18"/>
          <p:cNvSpPr txBox="1"/>
          <p:nvPr/>
        </p:nvSpPr>
        <p:spPr>
          <a:xfrm>
            <a:off x="7818120" y="2011680"/>
            <a:ext cx="3703320" cy="2835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需求 +10%：TT 826.4→759.8s，降幅 8.07%，队列 7.32→6.30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需求 +20%：TT 857.6→788.4s，降幅 8.06%，队列 9.78→8.43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需求 +30%：TT 870.0→804.7s，降幅 7.51%，队列 9.09→7.89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总需求最高 71,323 辆，改善幅度仅缓慢衰减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ounded Rectangle 19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22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需求持续增长下 FSCC 的相对收益保持稳定——算法适应的不是某一流量点，而是流量变化本身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8"/>
          <p:cNvSpPr txBox="1"/>
          <p:nvPr/>
        </p:nvSpPr>
        <p:spPr>
          <a:xfrm>
            <a:off x="566928" y="475488"/>
            <a:ext cx="11064240" cy="55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演示视频导入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2"/>
          <p:cNvSpPr/>
          <p:nvPr/>
        </p:nvSpPr>
        <p:spPr>
          <a:xfrm>
            <a:off x="822960" y="2212848"/>
            <a:ext cx="10561320" cy="2743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3"/>
          <p:cNvSpPr/>
          <p:nvPr/>
        </p:nvSpPr>
        <p:spPr>
          <a:xfrm>
            <a:off x="1463039" y="2075688"/>
            <a:ext cx="292608" cy="2926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4"/>
          <p:cNvSpPr txBox="1"/>
          <p:nvPr/>
        </p:nvSpPr>
        <p:spPr>
          <a:xfrm>
            <a:off x="1463039" y="2075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5"/>
          <p:cNvSpPr txBox="1"/>
          <p:nvPr/>
        </p:nvSpPr>
        <p:spPr>
          <a:xfrm>
            <a:off x="566928" y="15361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0:00–0:30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ounded Rectangle 16"/>
          <p:cNvSpPr/>
          <p:nvPr/>
        </p:nvSpPr>
        <p:spPr>
          <a:xfrm>
            <a:off x="566928" y="2606040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7"/>
          <p:cNvSpPr txBox="1"/>
          <p:nvPr/>
        </p:nvSpPr>
        <p:spPr>
          <a:xfrm>
            <a:off x="694944" y="2743200"/>
            <a:ext cx="182879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问题与最终效果先行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先给出痛点与三时段改善结论，抓住注意力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Oval 18"/>
          <p:cNvSpPr/>
          <p:nvPr/>
        </p:nvSpPr>
        <p:spPr>
          <a:xfrm>
            <a:off x="3705606" y="2075688"/>
            <a:ext cx="292608" cy="2926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9"/>
          <p:cNvSpPr txBox="1"/>
          <p:nvPr/>
        </p:nvSpPr>
        <p:spPr>
          <a:xfrm>
            <a:off x="3705606" y="2075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20"/>
          <p:cNvSpPr txBox="1"/>
          <p:nvPr/>
        </p:nvSpPr>
        <p:spPr>
          <a:xfrm>
            <a:off x="2809494" y="15361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0:30–1:30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ounded Rectangle 21"/>
          <p:cNvSpPr/>
          <p:nvPr/>
        </p:nvSpPr>
        <p:spPr>
          <a:xfrm>
            <a:off x="2809494" y="2606040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22"/>
          <p:cNvSpPr txBox="1"/>
          <p:nvPr/>
        </p:nvSpPr>
        <p:spPr>
          <a:xfrm>
            <a:off x="2937510" y="2743200"/>
            <a:ext cx="182879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雄安 20 路口场景导入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路网、交通流、信号配置加载与校验过程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Oval 23"/>
          <p:cNvSpPr/>
          <p:nvPr/>
        </p:nvSpPr>
        <p:spPr>
          <a:xfrm>
            <a:off x="5948172" y="2075688"/>
            <a:ext cx="292608" cy="2926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24"/>
          <p:cNvSpPr txBox="1"/>
          <p:nvPr/>
        </p:nvSpPr>
        <p:spPr>
          <a:xfrm>
            <a:off x="5948172" y="2075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25"/>
          <p:cNvSpPr txBox="1"/>
          <p:nvPr/>
        </p:nvSpPr>
        <p:spPr>
          <a:xfrm>
            <a:off x="5052060" y="15361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1:30–3:30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Rounded Rectangle 26"/>
          <p:cNvSpPr/>
          <p:nvPr/>
        </p:nvSpPr>
        <p:spPr>
          <a:xfrm>
            <a:off x="5052060" y="2606040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27"/>
          <p:cNvSpPr txBox="1"/>
          <p:nvPr/>
        </p:nvSpPr>
        <p:spPr>
          <a:xfrm>
            <a:off x="5180076" y="2743200"/>
            <a:ext cx="182879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算法部署与实时协同调控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固定配时→经典基线→完整 FSCC 依次运行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Oval 28"/>
          <p:cNvSpPr/>
          <p:nvPr/>
        </p:nvSpPr>
        <p:spPr>
          <a:xfrm>
            <a:off x="8190738" y="2075688"/>
            <a:ext cx="292608" cy="2926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29"/>
          <p:cNvSpPr txBox="1"/>
          <p:nvPr/>
        </p:nvSpPr>
        <p:spPr>
          <a:xfrm>
            <a:off x="8190738" y="2075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30"/>
          <p:cNvSpPr txBox="1"/>
          <p:nvPr/>
        </p:nvSpPr>
        <p:spPr>
          <a:xfrm>
            <a:off x="7294626" y="15361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3:30–5:30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ounded Rectangle 31"/>
          <p:cNvSpPr/>
          <p:nvPr/>
        </p:nvSpPr>
        <p:spPr>
          <a:xfrm>
            <a:off x="7294626" y="2606040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32"/>
          <p:cNvSpPr txBox="1"/>
          <p:nvPr/>
        </p:nvSpPr>
        <p:spPr>
          <a:xfrm>
            <a:off x="7422642" y="2743200"/>
            <a:ext cx="182879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效果对比与指标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旅行时间/延迟/队列/吞吐率实时叠加对比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Oval 33"/>
          <p:cNvSpPr/>
          <p:nvPr/>
        </p:nvSpPr>
        <p:spPr>
          <a:xfrm>
            <a:off x="10433304" y="2075688"/>
            <a:ext cx="292608" cy="29260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34"/>
          <p:cNvSpPr txBox="1"/>
          <p:nvPr/>
        </p:nvSpPr>
        <p:spPr>
          <a:xfrm>
            <a:off x="10433304" y="2075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TextBox 35"/>
          <p:cNvSpPr txBox="1"/>
          <p:nvPr/>
        </p:nvSpPr>
        <p:spPr>
          <a:xfrm>
            <a:off x="9537192" y="15361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结尾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ounded Rectangle 36"/>
          <p:cNvSpPr/>
          <p:nvPr/>
        </p:nvSpPr>
        <p:spPr>
          <a:xfrm>
            <a:off x="9537192" y="2606040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37"/>
          <p:cNvSpPr txBox="1"/>
          <p:nvPr/>
        </p:nvSpPr>
        <p:spPr>
          <a:xfrm>
            <a:off x="9665208" y="2743200"/>
            <a:ext cx="182879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复现入口与材料索引</a:t>
            </a:r>
            <a:endParaRPr sz="1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README、Docker、复算脚本一键复现</a:t>
            </a:r>
            <a:endParaRPr sz="11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工程化与标准化：可替换 · 可回退 · 可追责</a:t>
            </a:r>
            <a:endParaRPr sz="2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Rounded Rectangle 12"/>
          <p:cNvSpPr/>
          <p:nvPr/>
        </p:nvSpPr>
        <p:spPr>
          <a:xfrm>
            <a:off x="566928" y="1481328"/>
            <a:ext cx="3566160" cy="23957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5"/>
          <p:cNvSpPr txBox="1"/>
          <p:nvPr/>
        </p:nvSpPr>
        <p:spPr>
          <a:xfrm>
            <a:off x="707898" y="168897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可替换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TextBox 16"/>
          <p:cNvSpPr txBox="1"/>
          <p:nvPr/>
        </p:nvSpPr>
        <p:spPr>
          <a:xfrm>
            <a:off x="895985" y="2233422"/>
            <a:ext cx="3054096" cy="133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统一插件契约 SignalAlgorithm：状态 [20,12] → 动作 0..7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算法经注册表接入，主循环无需修改即可切换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SUMO / CityFlow 引擎可互换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Rounded Rectangle 17"/>
          <p:cNvSpPr/>
          <p:nvPr/>
        </p:nvSpPr>
        <p:spPr>
          <a:xfrm>
            <a:off x="4311396" y="1481328"/>
            <a:ext cx="3566160" cy="23957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20"/>
          <p:cNvSpPr txBox="1"/>
          <p:nvPr/>
        </p:nvSpPr>
        <p:spPr>
          <a:xfrm>
            <a:off x="4493641" y="164579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可回退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TextBox 21"/>
          <p:cNvSpPr txBox="1"/>
          <p:nvPr/>
        </p:nvSpPr>
        <p:spPr>
          <a:xfrm>
            <a:off x="4567428" y="2121662"/>
            <a:ext cx="3054096" cy="156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动作越界、模型异常、状态缺失自动回退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回退目标：最大压力 / 固定配时规则策略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学习模块只能在规则允许范围内修正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Rounded Rectangle 22"/>
          <p:cNvSpPr/>
          <p:nvPr/>
        </p:nvSpPr>
        <p:spPr>
          <a:xfrm>
            <a:off x="8055864" y="1481328"/>
            <a:ext cx="3566160" cy="23957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25"/>
          <p:cNvSpPr txBox="1"/>
          <p:nvPr/>
        </p:nvSpPr>
        <p:spPr>
          <a:xfrm>
            <a:off x="8238744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可追责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TextBox 26"/>
          <p:cNvSpPr txBox="1"/>
          <p:nvPr/>
        </p:nvSpPr>
        <p:spPr>
          <a:xfrm>
            <a:off x="8280781" y="2261362"/>
            <a:ext cx="3054096" cy="133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每次运行保留配置、模型版本、动作轨迹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metrics.csv ＋ trace JSON 全量落盘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报告中任何数字可由原始结果复算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Rounded Rectangle 27"/>
          <p:cNvSpPr/>
          <p:nvPr/>
        </p:nvSpPr>
        <p:spPr>
          <a:xfrm>
            <a:off x="566928" y="400507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28"/>
          <p:cNvSpPr/>
          <p:nvPr/>
        </p:nvSpPr>
        <p:spPr>
          <a:xfrm>
            <a:off x="566928" y="4005072"/>
            <a:ext cx="64008" cy="17556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29"/>
          <p:cNvSpPr txBox="1"/>
          <p:nvPr/>
        </p:nvSpPr>
        <p:spPr>
          <a:xfrm>
            <a:off x="786384" y="4041648"/>
            <a:ext cx="5120640" cy="169037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pPr algn="l">
              <a:lnSpc>
                <a:spcPct val="99000"/>
              </a:lnSpc>
              <a:spcAft>
                <a:spcPts val="3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标准化沉淀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observation / action / result 三类 Schema 作为最小接口集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场景清单、随机种子、版本锁定、复算脚本构成复现包强制附件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Docker 固化环境：干净机器按 README 可复现至少一个典型场景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Rounded Rectangle 30"/>
          <p:cNvSpPr/>
          <p:nvPr/>
        </p:nvSpPr>
        <p:spPr>
          <a:xfrm>
            <a:off x="6153912" y="400507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31"/>
          <p:cNvSpPr/>
          <p:nvPr/>
        </p:nvSpPr>
        <p:spPr>
          <a:xfrm>
            <a:off x="6153912" y="4005072"/>
            <a:ext cx="64008" cy="17556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32"/>
          <p:cNvSpPr txBox="1"/>
          <p:nvPr/>
        </p:nvSpPr>
        <p:spPr>
          <a:xfrm>
            <a:off x="6373368" y="4041648"/>
            <a:ext cx="5120640" cy="157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统计严谨性（如实标注）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现有结果为固定种子可复算点估计，不虚报统计显著性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能耗/CO₂ 未实测即不报数，仅给出可复算的派生口径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▪  下一步：≥5 随机种子置信区间、通信延迟注入、真实设备闭环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Rounded Rectangle 33"/>
          <p:cNvSpPr/>
          <p:nvPr/>
        </p:nvSpPr>
        <p:spPr>
          <a:xfrm>
            <a:off x="566928" y="594360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36"/>
          <p:cNvSpPr txBox="1"/>
          <p:nvPr/>
        </p:nvSpPr>
        <p:spPr>
          <a:xfrm>
            <a:off x="822960" y="594360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不伪造、不夸大、可复算——工程严谨本身就是答辩加分项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2"/>
          <p:cNvSpPr/>
          <p:nvPr/>
        </p:nvSpPr>
        <p:spPr>
          <a:xfrm>
            <a:off x="566928" y="201168"/>
            <a:ext cx="128016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3"/>
          <p:cNvSpPr txBox="1"/>
          <p:nvPr/>
        </p:nvSpPr>
        <p:spPr>
          <a:xfrm>
            <a:off x="777240" y="1188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Parallelogram 4"/>
          <p:cNvSpPr/>
          <p:nvPr/>
        </p:nvSpPr>
        <p:spPr>
          <a:xfrm>
            <a:off x="11292840" y="0"/>
            <a:ext cx="502920" cy="384048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Parallelogram 5"/>
          <p:cNvSpPr/>
          <p:nvPr/>
        </p:nvSpPr>
        <p:spPr>
          <a:xfrm>
            <a:off x="11750040" y="0"/>
            <a:ext cx="457200" cy="384048"/>
          </a:xfrm>
          <a:prstGeom prst="parallelogram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6"/>
          <p:cNvSpPr/>
          <p:nvPr/>
        </p:nvSpPr>
        <p:spPr>
          <a:xfrm>
            <a:off x="11521440" y="777240"/>
            <a:ext cx="146304" cy="14630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7"/>
          <p:cNvSpPr/>
          <p:nvPr/>
        </p:nvSpPr>
        <p:spPr>
          <a:xfrm>
            <a:off x="11841480" y="1051560"/>
            <a:ext cx="91440" cy="9144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8"/>
          <p:cNvSpPr txBox="1"/>
          <p:nvPr/>
        </p:nvSpPr>
        <p:spPr>
          <a:xfrm>
            <a:off x="566928" y="4754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团队与分工：一人一责，任务闭环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Rectangle 9"/>
          <p:cNvSpPr/>
          <p:nvPr/>
        </p:nvSpPr>
        <p:spPr>
          <a:xfrm>
            <a:off x="594360" y="1207008"/>
            <a:ext cx="123444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0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XH-202613｜车路云协同管控算法与平台</a:t>
            </a:r>
            <a:endParaRPr sz="9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TextBox 11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00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9" name="Table 12"/>
          <p:cNvGraphicFramePr>
            <a:graphicFrameLocks noGrp="1"/>
          </p:cNvGraphicFramePr>
          <p:nvPr/>
        </p:nvGraphicFramePr>
        <p:xfrm>
          <a:off x="1906905" y="1561465"/>
          <a:ext cx="8385175" cy="392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980"/>
                <a:gridCol w="6894195"/>
              </a:tblGrid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主要负责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1F4E79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杨彬琰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算法逻辑与可视化、平台集成、经典基线与主算法实现、实验与消融、报告统稿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765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黄晓凡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场景建模与数据接口设计、智能决策模型（UGAT/FRAP/C-MP）、接口文档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</a:tr>
              <a:tr h="57594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周康睿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雄安 20 路口场景构建与数据导入、答辩 PPT 制作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765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刘一鸣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Docker 部署与性能优化、运行复现说明（README）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张澜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系统演示视频（5–8 分钟全流程）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765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李丹阳</a:t>
                      </a:r>
                      <a:endParaRPr sz="115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完整实验评估报告（基线/消融/扰动数据汇总）</a:t>
                      </a:r>
                      <a:endParaRPr sz="1200" b="0">
                        <a:solidFill>
                          <a:srgbClr val="2121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70" name="Rounded Rectangle 13"/>
          <p:cNvSpPr/>
          <p:nvPr/>
        </p:nvSpPr>
        <p:spPr>
          <a:xfrm>
            <a:off x="566928" y="5760720"/>
            <a:ext cx="11055096" cy="49377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6"/>
          <p:cNvSpPr txBox="1"/>
          <p:nvPr/>
        </p:nvSpPr>
        <p:spPr>
          <a:xfrm>
            <a:off x="822960" y="5760720"/>
            <a:ext cx="1062532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任务完成标准统一：程序能运行、结果可复现、文档能说明、材料能归档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32918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2"/>
          <p:cNvSpPr txBox="1"/>
          <p:nvPr/>
        </p:nvSpPr>
        <p:spPr>
          <a:xfrm>
            <a:off x="274320" y="73152"/>
            <a:ext cx="3017520" cy="32918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挑战杯·揭榜挂帅 XH-202613 ｜ 赛道B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Parallelogram 3"/>
          <p:cNvSpPr/>
          <p:nvPr/>
        </p:nvSpPr>
        <p:spPr>
          <a:xfrm>
            <a:off x="3246120" y="0"/>
            <a:ext cx="411480" cy="457200"/>
          </a:xfrm>
          <a:prstGeom prst="parallelogram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4"/>
          <p:cNvSpPr/>
          <p:nvPr/>
        </p:nvSpPr>
        <p:spPr>
          <a:xfrm>
            <a:off x="10607040" y="1097280"/>
            <a:ext cx="457200" cy="45720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5"/>
          <p:cNvSpPr/>
          <p:nvPr/>
        </p:nvSpPr>
        <p:spPr>
          <a:xfrm>
            <a:off x="11247120" y="1920240"/>
            <a:ext cx="256032" cy="256032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6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7"/>
          <p:cNvSpPr/>
          <p:nvPr/>
        </p:nvSpPr>
        <p:spPr>
          <a:xfrm>
            <a:off x="1371600" y="5943600"/>
            <a:ext cx="182880" cy="182880"/>
          </a:xfrm>
          <a:prstGeom prst="ellipse">
            <a:avLst/>
          </a:prstGeom>
          <a:solidFill>
            <a:srgbClr val="7A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8"/>
          <p:cNvSpPr/>
          <p:nvPr/>
        </p:nvSpPr>
        <p:spPr>
          <a:xfrm>
            <a:off x="11155680" y="5120640"/>
            <a:ext cx="329184" cy="329184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9"/>
          <p:cNvSpPr txBox="1"/>
          <p:nvPr/>
        </p:nvSpPr>
        <p:spPr>
          <a:xfrm>
            <a:off x="914400" y="237744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谢谢聆听，请评委批评指正</a:t>
            </a:r>
            <a:endParaRPr sz="3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Rectangle 10"/>
          <p:cNvSpPr/>
          <p:nvPr/>
        </p:nvSpPr>
        <p:spPr>
          <a:xfrm>
            <a:off x="4956048" y="379476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1"/>
          <p:cNvSpPr txBox="1"/>
          <p:nvPr/>
        </p:nvSpPr>
        <p:spPr>
          <a:xfrm>
            <a:off x="914400" y="41148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面向雄安新区"城市大脑"的车路云一体化协同管控算法与仿真平台</a:t>
            </a:r>
            <a:endParaRPr sz="16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</a:rPr>
              <a:t>赛道B：经典交通管控算法的场景适配与优化</a:t>
            </a:r>
            <a:endParaRPr sz="1250" b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2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3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4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5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6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7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8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ags/tag9.xml><?xml version="1.0" encoding="utf-8"?>
<p:tagLst xmlns:p="http://schemas.openxmlformats.org/presentationml/2006/main">
  <p:tag name="KSO_WM_DIAGRAM_VIRTUALLY_FRAME" val="{&quot;height&quot;:54,&quot;left&quot;:223.2,&quot;top&quot;:396,&quot;width&quot;:671.75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5288</Words>
  <Application>WPS 演示</Application>
  <PresentationFormat/>
  <Paragraphs>490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25182404</cp:lastModifiedBy>
  <cp:revision>3</cp:revision>
  <dcterms:created xsi:type="dcterms:W3CDTF">2026-09-04T04:17:00Z</dcterms:created>
  <dcterms:modified xsi:type="dcterms:W3CDTF">2026-09-04T04:20:12Z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48E4E5EB434F4873ADF697034ED25858_13</vt:lpwstr>
  </property>
</Properties>
</file>